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 Intensity %</c:v>
                </c:pt>
              </c:strCache>
            </c:strRef>
          </c:tx>
          <c:spPr>
            <a:solidFill>
              <a:srgbClr val="C48B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8B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4F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Last Year</c:v>
                  </c:pt>
                  <c:pt idx="1">
                    <c:v>Budget</c:v>
                  </c:pt>
                  <c:pt idx="2">
                    <c:v>Actual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11.55</c:v>
                </c:pt>
                <c:pt idx="1">
                  <c:v>14.08</c:v>
                </c:pt>
                <c:pt idx="2">
                  <c:v>16.98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Last Year</c:v>
                </c:pt>
              </c:strCache>
            </c:strRef>
          </c:tx>
          <c:spPr>
            <a:solidFill>
              <a:srgbClr val="C48B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Portfolio</c:v>
                  </c:pt>
                  <c:pt idx="1">
                    <c:v>Free Standing</c:v>
                  </c:pt>
                  <c:pt idx="2">
                    <c:v>Online 3PP</c:v>
                  </c:pt>
                  <c:pt idx="3">
                    <c:v>Brand.com</c:v>
                  </c:pt>
                  <c:pt idx="4">
                    <c:v>Spec. Multi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28.63</c:v>
                </c:pt>
                <c:pt idx="1">
                  <c:v>16</c:v>
                </c:pt>
                <c:pt idx="2">
                  <c:v>36.3</c:v>
                </c:pt>
                <c:pt idx="3">
                  <c:v>35.1</c:v>
                </c:pt>
                <c:pt idx="4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Portfolio</c:v>
                  </c:pt>
                  <c:pt idx="1">
                    <c:v>Free Standing</c:v>
                  </c:pt>
                  <c:pt idx="2">
                    <c:v>Online 3PP</c:v>
                  </c:pt>
                  <c:pt idx="3">
                    <c:v>Brand.com</c:v>
                  </c:pt>
                  <c:pt idx="4">
                    <c:v>Spec. Multi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29.8</c:v>
                </c:pt>
                <c:pt idx="1">
                  <c:v>20.2</c:v>
                </c:pt>
                <c:pt idx="2">
                  <c:v>32.2</c:v>
                </c:pt>
                <c:pt idx="3">
                  <c:v>37.7</c:v>
                </c:pt>
                <c:pt idx="4">
                  <c:v>35.5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8B9F"/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498080" y="-548640"/>
            <a:ext cx="2926080" cy="2926080"/>
          </a:xfrm>
          <a:prstGeom prst="ellipse">
            <a:avLst/>
          </a:prstGeom>
          <a:solidFill>
            <a:srgbClr val="7D2E50"/>
          </a:solidFill>
          <a:ln w="12700">
            <a:solidFill>
              <a:srgbClr val="7D2E5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38160" y="2926080"/>
            <a:ext cx="1828800" cy="1828800"/>
          </a:xfrm>
          <a:prstGeom prst="ellipse">
            <a:avLst/>
          </a:prstGeom>
          <a:solidFill>
            <a:srgbClr val="4A1730"/>
          </a:solidFill>
          <a:ln w="12700">
            <a:solidFill>
              <a:srgbClr val="4A173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640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PORTFOLIO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Performance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Analytics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029200" cy="36576"/>
          </a:xfrm>
          <a:prstGeom prst="rect">
            <a:avLst/>
          </a:prstGeom>
          <a:solidFill>
            <a:srgbClr val="C48B9F"/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Insights  ·  Data Analyst Perspective  ·  AB Testing &amp; Validation Roadmap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9202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+33.7%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3749040"/>
            <a:ext cx="19202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4114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3749040"/>
            <a:ext cx="19202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4632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 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4114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 Intensity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3749040"/>
            <a:ext cx="19202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 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4114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PARADOX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up. Profit nearly halved.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05840"/>
            <a:ext cx="2651760" cy="347472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005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481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481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92224"/>
            <a:ext cx="2377440" cy="0"/>
          </a:xfrm>
          <a:prstGeom prst="line">
            <a:avLst/>
          </a:prstGeom>
          <a:noFill/>
          <a:ln w="12700">
            <a:solidFill>
              <a:srgbClr val="EEE0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0352" y="21396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1396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50592"/>
            <a:ext cx="2377440" cy="0"/>
          </a:xfrm>
          <a:prstGeom prst="line">
            <a:avLst/>
          </a:prstGeom>
          <a:noFill/>
          <a:ln w="12700">
            <a:solidFill>
              <a:srgbClr val="EEE0E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0352" y="27980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79806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+33.7%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2651760" cy="438912"/>
          </a:xfrm>
          <a:prstGeom prst="rect">
            <a:avLst/>
          </a:prstGeom>
          <a:solidFill>
            <a:srgbClr val="EAF7F1"/>
          </a:solidFill>
          <a:ln w="12700">
            <a:solidFill>
              <a:srgbClr val="A8DCC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349300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Beat by +5.7pp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($)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4992" y="1481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1481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$38.9K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37560" y="1792224"/>
            <a:ext cx="2377440" cy="0"/>
          </a:xfrm>
          <a:prstGeom prst="line">
            <a:avLst/>
          </a:prstGeom>
          <a:noFill/>
          <a:ln w="12700">
            <a:solidFill>
              <a:srgbClr val="EEE0E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364992" y="21396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21396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$56.9K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37560" y="2450592"/>
            <a:ext cx="2377440" cy="0"/>
          </a:xfrm>
          <a:prstGeom prst="line">
            <a:avLst/>
          </a:prstGeom>
          <a:noFill/>
          <a:ln w="12700">
            <a:solidFill>
              <a:srgbClr val="EEE0E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364992" y="27980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4992" y="279806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$25.5K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0" y="3493008"/>
            <a:ext cx="2651760" cy="438912"/>
          </a:xfrm>
          <a:prstGeom prst="rect">
            <a:avLst/>
          </a:prstGeom>
          <a:solidFill>
            <a:srgbClr val="FCECEA"/>
          </a:solidFill>
          <a:ln w="12700">
            <a:solidFill>
              <a:srgbClr val="F0B8B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200400" y="349300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Miss by −$31.4K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 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9632" y="1481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9632" y="1481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72200" y="1792224"/>
            <a:ext cx="2377440" cy="0"/>
          </a:xfrm>
          <a:prstGeom prst="line">
            <a:avLst/>
          </a:prstGeom>
          <a:noFill/>
          <a:ln w="12700">
            <a:solidFill>
              <a:srgbClr val="EEE0E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199632" y="21396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99632" y="21396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72200" y="2450592"/>
            <a:ext cx="2377440" cy="0"/>
          </a:xfrm>
          <a:prstGeom prst="line">
            <a:avLst/>
          </a:prstGeom>
          <a:noFill/>
          <a:ln w="12700">
            <a:solidFill>
              <a:srgbClr val="EEE0E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199632" y="27980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9632" y="279806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35040" y="3493008"/>
            <a:ext cx="2651760" cy="438912"/>
          </a:xfrm>
          <a:prstGeom prst="rect">
            <a:avLst/>
          </a:prstGeom>
          <a:solidFill>
            <a:srgbClr val="FCECEA"/>
          </a:solidFill>
          <a:ln w="12700">
            <a:solidFill>
              <a:srgbClr val="F0B8B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035040" y="349300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Miss by −9.5pp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for every analyst: Is this growth sustainable, or was it bought with discounts and advertising?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Advertising: The Biggest Cost Jump vs Last Year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103120" cy="2194560"/>
          </a:xfrm>
          <a:prstGeom prst="rect">
            <a:avLst/>
          </a:prstGeom>
          <a:solidFill>
            <a:srgbClr val="FCECEA"/>
          </a:solidFill>
          <a:ln w="12700">
            <a:solidFill>
              <a:srgbClr val="F0B8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051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+92%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+ promo spend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Last 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5786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$10.5K overrun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651760" y="914400"/>
          <a:ext cx="3657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92240" y="996696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92240" y="9784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1228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 → 17.0% — jumped 5.4pp in one period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92240" y="1527048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92240" y="1508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12280" y="1490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3 overruns behind the $31K EBIT miss (with selling &amp; store costs)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92240" y="2057400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92240" y="20391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12280" y="20208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alone overspent its ad + promo budget by $3.4K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92240" y="258775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92240" y="25694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12280" y="25511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3PP ad + promo +$12K vs budget — biggest offender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337560"/>
            <a:ext cx="8412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02920" y="3337560"/>
            <a:ext cx="8275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DA Action: Set hard per-brand ad caps. Redirect 20% of Online 3PP budget → Brand.com (owned, 31.5% EBIT margin vs 19.0%). Run an A/B test on ad spend levels to measure incremental revenue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Mix: Two Channels Are Destroying Value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0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960120"/>
            <a:ext cx="3874770" cy="658368"/>
          </a:xfrm>
          <a:prstGeom prst="rect">
            <a:avLst/>
          </a:prstGeom>
          <a:solidFill>
            <a:srgbClr val="1A7F5A">
              <a:alpha val="50000"/>
            </a:srgbClr>
          </a:solidFill>
          <a:ln w="12700">
            <a:solidFill>
              <a:srgbClr val="1A7F5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1247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6245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Sales: $53K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11247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Margin: 31.5%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088136"/>
            <a:ext cx="1188720" cy="347472"/>
          </a:xfrm>
          <a:prstGeom prst="rect">
            <a:avLst/>
          </a:prstGeom>
          <a:solidFill>
            <a:srgbClr val="EAF7F1"/>
          </a:solidFill>
          <a:ln w="12700">
            <a:solidFill>
              <a:srgbClr val="1A7F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0" y="10881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5029200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5760" y="1737360"/>
            <a:ext cx="3017520" cy="658368"/>
          </a:xfrm>
          <a:prstGeom prst="rect">
            <a:avLst/>
          </a:prstGeom>
          <a:solidFill>
            <a:srgbClr val="E8A838">
              <a:alpha val="50000"/>
            </a:srgbClr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1901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3PP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1396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Sales: $145K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19019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Margin: 19.0%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1865376"/>
            <a:ext cx="118872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0" y="18653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⚠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5029200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2514600"/>
            <a:ext cx="2263140" cy="658368"/>
          </a:xfrm>
          <a:prstGeom prst="rect">
            <a:avLst/>
          </a:prstGeom>
          <a:solidFill>
            <a:srgbClr val="E8A838">
              <a:alpha val="50000"/>
            </a:srgbClr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26791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Standing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291693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Sales: $163K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6791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Margin: 8.0%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2642616"/>
            <a:ext cx="118872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0" y="26426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291840"/>
            <a:ext cx="5029200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" y="3291840"/>
            <a:ext cx="914400" cy="658368"/>
          </a:xfrm>
          <a:prstGeom prst="rect">
            <a:avLst/>
          </a:prstGeom>
          <a:solidFill>
            <a:srgbClr val="C0392B">
              <a:alpha val="5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2920" y="34564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Stores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6941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Sales: $71K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4564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Margin: −3.6%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0" y="3419856"/>
            <a:ext cx="118872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0" y="34198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✗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069080"/>
            <a:ext cx="5029200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65760" y="4069080"/>
            <a:ext cx="914400" cy="658368"/>
          </a:xfrm>
          <a:prstGeom prst="rect">
            <a:avLst/>
          </a:prstGeom>
          <a:solidFill>
            <a:srgbClr val="C0392B">
              <a:alpha val="5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02920" y="4233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Multi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47141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Sales: $85K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0" y="4233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Margin: −24.4%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0" y="4197096"/>
            <a:ext cx="118872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572000" y="41970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✗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35040" y="914400"/>
            <a:ext cx="2743200" cy="3931920"/>
          </a:xfrm>
          <a:prstGeom prst="rect">
            <a:avLst/>
          </a:prstGeom>
          <a:solidFill>
            <a:srgbClr val="FCF0F4"/>
          </a:solidFill>
          <a:ln w="12700">
            <a:solidFill>
              <a:srgbClr val="E0C4CC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17220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72200" y="141732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Multi lost $11K EBIT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Stores lost $1.5K EBIT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loss: −$12.5K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Brand.com generates $10.1K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only $53K gross sales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mix toward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channels = direct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recovery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572000"/>
            <a:ext cx="8412480" cy="420624"/>
          </a:xfrm>
          <a:prstGeom prst="rect">
            <a:avLst/>
          </a:prstGeom>
          <a:solidFill>
            <a:srgbClr val="EAF7F1"/>
          </a:solidFill>
          <a:ln w="12700">
            <a:solidFill>
              <a:srgbClr val="1A7F5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02920" y="4572000"/>
            <a:ext cx="8275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DA Action: A/B test exit strategy for Specialty Multi — pilot a 3-month pause and measure portfolio EBIT impact. Focus group with Specialty Multi shoppers to understand if they migrate to Brand.com or are lost entirely.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 Rate: A Silent Cash Drain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1pp of discount =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~$5.2K less cash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into the business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219456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9144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577840" y="914400"/>
            <a:ext cx="6400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715000" y="987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Standing ▲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1280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jumped 16% → 20.2%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+4.2pp vs last year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margin erosion in largest channel by revenue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2860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577840" y="2286000"/>
            <a:ext cx="6400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715000" y="2359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Multi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35.5% discount 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2nd-highest (Brand.com: 37.7%)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$3 of gross sales gives $1 back as discount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6576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577840" y="3657600"/>
            <a:ext cx="64008" cy="1234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715000" y="3730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15000" y="40233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 actual vs 28% budget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+1.83pp overrun = ~$9.5K cash left on the table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4681728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DA Action: A/B test loyalty program vs. blanket discounting on Brand.com. Hypothesis: loyalty rewards retain repeat customers at lower discount cost. Quantify via incrementality test (holdout group methodology).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Polarization: Stars, Strugglers &amp; Loss-Makers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1207008"/>
          </a:xfrm>
          <a:prstGeom prst="rect">
            <a:avLst/>
          </a:prstGeom>
          <a:solidFill>
            <a:srgbClr val="EAF7F1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Ordinary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1234440" cy="301752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200400" y="1005840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1353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13533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1554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+284%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206240" cy="1207008"/>
          </a:xfrm>
          <a:prstGeom prst="rect">
            <a:avLst/>
          </a:prstGeom>
          <a:solidFill>
            <a:srgbClr val="FFF9EC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231343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2331720"/>
            <a:ext cx="1234440" cy="3017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00400" y="2331720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WATCH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79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26791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08960" y="2679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Growth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08960" y="2880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4206240" cy="1207008"/>
          </a:xfrm>
          <a:prstGeom prst="rect">
            <a:avLst/>
          </a:prstGeom>
          <a:solidFill>
            <a:srgbClr val="FFF9EC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363931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 Ford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0" y="3657600"/>
            <a:ext cx="1234440" cy="3017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200400" y="3657600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WATCH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00507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828800" y="40050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08960" y="400507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Growth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08960" y="4206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00600" y="914400"/>
            <a:ext cx="420624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937760" y="98755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Estee Lauder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635240" y="1005840"/>
            <a:ext cx="123444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635240" y="1005840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LOW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7760" y="13533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63640" y="1353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62.6%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43800" y="13533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Growth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543800" y="1554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800600" y="2240280"/>
            <a:ext cx="4206240" cy="1207008"/>
          </a:xfrm>
          <a:prstGeom prst="rect">
            <a:avLst/>
          </a:prstGeom>
          <a:solidFill>
            <a:srgbClr val="FCECEA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937760" y="231343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 Malone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635240" y="2331720"/>
            <a:ext cx="123444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635240" y="2331720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LOSS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37760" y="2679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3776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63640" y="26791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6364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543800" y="2679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Growth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43800" y="2880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800600" y="3566160"/>
            <a:ext cx="4206240" cy="1207008"/>
          </a:xfrm>
          <a:prstGeom prst="rect">
            <a:avLst/>
          </a:prstGeom>
          <a:solidFill>
            <a:srgbClr val="FCECEA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937760" y="363931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Clinique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635240" y="3657600"/>
            <a:ext cx="123444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635240" y="3657600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LOSS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937760" y="400507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93776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-6.5%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63640" y="40050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6364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59.9%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543800" y="400507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Growth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543800" y="4206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0EBF4"/>
          </a:solidFill>
          <a:ln w="12700">
            <a:solidFill>
              <a:srgbClr val="9B4F6A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02920" y="4663440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DA Action: Focus group with Clinique &amp; Jo Malone consumers — are they price-driven or brand-loyal? Their high GP margins (60–72%) signal the cost base is fine; the problem is operating cost and channel fit, not the product.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Quality: Growth Fueled by Spend, Not Efficiency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Revenue Quality Matrix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926080" cy="502920"/>
          </a:xfrm>
          <a:prstGeom prst="rect">
            <a:avLst/>
          </a:prstGeom>
          <a:solidFill>
            <a:srgbClr val="5C1F3B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71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1371600" cy="502920"/>
          </a:xfrm>
          <a:prstGeom prst="rect">
            <a:avLst/>
          </a:prstGeom>
          <a:solidFill>
            <a:srgbClr val="5C1F3B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371600" cy="502920"/>
          </a:xfrm>
          <a:prstGeom prst="rect">
            <a:avLst/>
          </a:prstGeom>
          <a:solidFill>
            <a:srgbClr val="5C1F3B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1645920" cy="502920"/>
          </a:xfrm>
          <a:prstGeom prst="rect">
            <a:avLst/>
          </a:prstGeom>
          <a:solidFill>
            <a:srgbClr val="5C1F3B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6364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1874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87452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29000" y="1874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$494.6K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7452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1874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$516.8K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87452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63640" y="1874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+$22.2K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377440"/>
            <a:ext cx="2926080" cy="502920"/>
          </a:xfrm>
          <a:prstGeom prst="rect">
            <a:avLst/>
          </a:prstGeom>
          <a:solidFill>
            <a:srgbClr val="F7EEE8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2377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(after discounts)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377440"/>
            <a:ext cx="1371600" cy="502920"/>
          </a:xfrm>
          <a:prstGeom prst="rect">
            <a:avLst/>
          </a:prstGeom>
          <a:solidFill>
            <a:srgbClr val="F7EEE8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429000" y="2377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$335.1K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377440"/>
            <a:ext cx="1371600" cy="502920"/>
          </a:xfrm>
          <a:prstGeom prst="rect">
            <a:avLst/>
          </a:prstGeom>
          <a:solidFill>
            <a:srgbClr val="F7EEE8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46320" y="2377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$339.7K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377440"/>
            <a:ext cx="1645920" cy="502920"/>
          </a:xfrm>
          <a:prstGeom prst="rect">
            <a:avLst/>
          </a:prstGeom>
          <a:solidFill>
            <a:srgbClr val="F7EEE8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26364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+$4.6K only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88036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200" y="2880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288036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29000" y="2880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$223.4K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846320" y="2880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$225.5K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288036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263640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+$2.1K only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383280"/>
            <a:ext cx="2926080" cy="502920"/>
          </a:xfrm>
          <a:prstGeom prst="rect">
            <a:avLst/>
          </a:prstGeom>
          <a:solidFill>
            <a:srgbClr val="FCECEA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57200" y="3383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37560" y="3383280"/>
            <a:ext cx="1371600" cy="502920"/>
          </a:xfrm>
          <a:prstGeom prst="rect">
            <a:avLst/>
          </a:prstGeom>
          <a:solidFill>
            <a:srgbClr val="FCECEA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429000" y="3383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$56.9K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3383280"/>
            <a:ext cx="1371600" cy="502920"/>
          </a:xfrm>
          <a:prstGeom prst="rect">
            <a:avLst/>
          </a:prstGeom>
          <a:solidFill>
            <a:srgbClr val="FCECEA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46320" y="3383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$25.5K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72200" y="3383280"/>
            <a:ext cx="1645920" cy="502920"/>
          </a:xfrm>
          <a:prstGeom prst="rect">
            <a:avLst/>
          </a:prstGeom>
          <a:solidFill>
            <a:srgbClr val="FCECEA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263640" y="3383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−$31.4K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886200"/>
            <a:ext cx="292608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" y="3886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+ Promo Spend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37560" y="3886200"/>
            <a:ext cx="137160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429000" y="3886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$47.2K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3886200"/>
            <a:ext cx="137160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846320" y="3886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~$57.7K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72200" y="3886200"/>
            <a:ext cx="164592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D0D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263640" y="3886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+$10.5K over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863840" y="1371600"/>
            <a:ext cx="914400" cy="3017520"/>
          </a:xfrm>
          <a:prstGeom prst="rect">
            <a:avLst/>
          </a:prstGeom>
          <a:solidFill>
            <a:srgbClr val="FCECEA"/>
          </a:solidFill>
          <a:ln w="12700">
            <a:solidFill>
              <a:srgbClr val="F0B8B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863840" y="141732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863840" y="2834640"/>
            <a:ext cx="914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Framework: Revenue Quality Score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÷ Gross Sales (current: 65.7%)  ·  EBIT ÷ Gross Sales (current: 4.9%)  ·  GP ÷ Ad Spend (current: 3.9×)  →  All three declining YoY.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ANALYST LENS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Test, Measure &amp; Validate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88920" cy="365760"/>
          </a:xfrm>
          <a:prstGeom prst="rect">
            <a:avLst/>
          </a:prstGeom>
          <a:solidFill>
            <a:srgbClr val="5C1F3B"/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13258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A/B 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0040" y="1737360"/>
            <a:ext cx="2788920" cy="274320"/>
          </a:xfrm>
          <a:prstGeom prst="rect">
            <a:avLst/>
          </a:prstGeom>
          <a:solidFill>
            <a:srgbClr val="5C1F3B">
              <a:alpha val="15000"/>
            </a:srgbClr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1480" y="175564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Level Test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ad budget tiers (−20%, flat, +20%) across Online 3PP brands. Measure: incremental revenue per $ spent (ROAS). Success = identify the saturation point.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816352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0040" y="2816352"/>
            <a:ext cx="2788920" cy="274320"/>
          </a:xfrm>
          <a:prstGeom prst="rect">
            <a:avLst/>
          </a:prstGeom>
          <a:solidFill>
            <a:srgbClr val="5C1F3B">
              <a:alpha val="15000"/>
            </a:srgbClr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1480" y="28346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Loyalty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108960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Brand.com shoppers: Group A gets 10% discount, Group B gets loyalty points of equal value. Measure: repeat purchase rate, CLV, net revenue after cost.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895344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0040" y="3895344"/>
            <a:ext cx="2788920" cy="274320"/>
          </a:xfrm>
          <a:prstGeom prst="rect">
            <a:avLst/>
          </a:prstGeom>
          <a:solidFill>
            <a:srgbClr val="5C1F3B">
              <a:alpha val="15000"/>
            </a:srgbClr>
          </a:solidFill>
          <a:ln w="12700">
            <a:solidFill>
              <a:srgbClr val="5C1F3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1480" y="39136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Shift Pilot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187952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15% of Specialty Multi budget → Brand.com for one brand (e.g. MAC). Measure EBIT delta over 60 days. Extrapolate to full portfolio.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64408" y="1325880"/>
            <a:ext cx="2788920" cy="365760"/>
          </a:xfrm>
          <a:prstGeom prst="rect">
            <a:avLst/>
          </a:prstGeom>
          <a:solidFill>
            <a:srgbClr val="9B4F6A"/>
          </a:solidFill>
          <a:ln w="12700">
            <a:solidFill>
              <a:srgbClr val="9B4F6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64408" y="13258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Focus Groups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64408" y="173736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264408" y="1737360"/>
            <a:ext cx="2788920" cy="274320"/>
          </a:xfrm>
          <a:prstGeom prst="rect">
            <a:avLst/>
          </a:prstGeom>
          <a:solidFill>
            <a:srgbClr val="9B4F6A">
              <a:alpha val="15000"/>
            </a:srgbClr>
          </a:solidFill>
          <a:ln w="12700">
            <a:solidFill>
              <a:srgbClr val="9B4F6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55848" y="175564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&amp; Jo Malone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55848" y="2029968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strong GP margins (60–72%) but negative EBIT. Focus group goal: understand price sensitivity. Are customers loyal to brand or to channel convenience?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64408" y="2816352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64408" y="2816352"/>
            <a:ext cx="2788920" cy="274320"/>
          </a:xfrm>
          <a:prstGeom prst="rect">
            <a:avLst/>
          </a:prstGeom>
          <a:solidFill>
            <a:srgbClr val="9B4F6A">
              <a:alpha val="15000"/>
            </a:srgbClr>
          </a:solidFill>
          <a:ln w="12700">
            <a:solidFill>
              <a:srgbClr val="9B4F6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355848" y="28346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Multi Shoppers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3108960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35.5% discount rate — who are these customers? Test if they'd shop Brand.com at full price. If yes, channel exit is viable. If no, assess negotiation with retailer.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64408" y="3895344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264408" y="3895344"/>
            <a:ext cx="2788920" cy="274320"/>
          </a:xfrm>
          <a:prstGeom prst="rect">
            <a:avLst/>
          </a:prstGeom>
          <a:solidFill>
            <a:srgbClr val="9B4F6A">
              <a:alpha val="15000"/>
            </a:srgbClr>
          </a:solidFill>
          <a:ln w="12700">
            <a:solidFill>
              <a:srgbClr val="9B4F6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55848" y="39136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Standing Store UX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55848" y="4187952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costs rose $9.5K vs LY. Qualitative research on what's driving visits: is footfall up or are conversion rates poor? Data alone can't answer this.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08776" y="1325880"/>
            <a:ext cx="2788920" cy="3657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08776" y="13258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Metrics to Track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08776" y="173736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208776" y="1737360"/>
            <a:ext cx="2788920" cy="274320"/>
          </a:xfrm>
          <a:prstGeom prst="rect">
            <a:avLst/>
          </a:prstGeom>
          <a:solidFill>
            <a:srgbClr val="2C6E49">
              <a:alpha val="15000"/>
            </a:srgbClr>
          </a:solidFill>
          <a:ln w="12700">
            <a:solidFill>
              <a:srgbClr val="2C6E4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300216" y="175564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Score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0216" y="2029968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÷ Gross Sales. Currently 4.9% — set a floor of 8%. Alert if any brand or channel drops below.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08776" y="2816352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208776" y="2816352"/>
            <a:ext cx="2788920" cy="274320"/>
          </a:xfrm>
          <a:prstGeom prst="rect">
            <a:avLst/>
          </a:prstGeom>
          <a:solidFill>
            <a:srgbClr val="2C6E49">
              <a:alpha val="15000"/>
            </a:srgbClr>
          </a:solidFill>
          <a:ln w="12700">
            <a:solidFill>
              <a:srgbClr val="2C6E49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300216" y="28346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Efficiency Ratio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00216" y="3108960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÷ (Adv + Promo). Currently 3.9×. Target: ≥5×. Trend this weekly during campaign periods.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08776" y="3895344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208776" y="3895344"/>
            <a:ext cx="2788920" cy="274320"/>
          </a:xfrm>
          <a:prstGeom prst="rect">
            <a:avLst/>
          </a:prstGeom>
          <a:solidFill>
            <a:srgbClr val="2C6E49">
              <a:alpha val="15000"/>
            </a:srgbClr>
          </a:solidFill>
          <a:ln w="12700">
            <a:solidFill>
              <a:srgbClr val="2C6E4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300216" y="39136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 Variance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00216" y="4187952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weekly vs budget per channel. Trigger review if any channel exceeds budget by +1pp. Automate flag in BI dashboard.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7D2E50"/>
          </a:solidFill>
          <a:ln w="12700">
            <a:solidFill>
              <a:srgbClr val="7D2E5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4A1730"/>
          </a:solidFill>
          <a:ln w="12700">
            <a:solidFill>
              <a:srgbClr val="4A173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INSIGHTS — WHAT TO DO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896112"/>
            <a:ext cx="777240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950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Advertising Spend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234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hard per-brand ad budgets. A/B test spend levels to find ROAS saturation.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92240" y="1005840"/>
            <a:ext cx="2148840" cy="402336"/>
          </a:xfrm>
          <a:prstGeom prst="rect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00584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 Intensity → &lt;13%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64792"/>
            <a:ext cx="502920" cy="502920"/>
          </a:xfrm>
          <a:prstGeom prst="ellipse">
            <a:avLst/>
          </a:prstGeom>
          <a:solidFill>
            <a:srgbClr val="C48B9F"/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1700784"/>
            <a:ext cx="777240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43000" y="1755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Channel Mix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0391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Specialty Multi exit or renegotiation. Grow Brand.com. Test customer migration.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1810512"/>
            <a:ext cx="2148840" cy="402336"/>
          </a:xfrm>
          <a:prstGeom prst="rect">
            <a:avLst/>
          </a:prstGeom>
          <a:solidFill>
            <a:srgbClr val="C48B9F">
              <a:alpha val="25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92240" y="181051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recovery: +$12.5K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502920" cy="50292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2569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5840" y="2505456"/>
            <a:ext cx="777240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430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Discount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28437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A/B: loyalty program vs price discounts. Target 2pp reduction = ~$10K cash impact.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92240" y="2615184"/>
            <a:ext cx="2148840" cy="402336"/>
          </a:xfrm>
          <a:prstGeom prst="rect">
            <a:avLst/>
          </a:prstGeom>
          <a:solidFill>
            <a:srgbClr val="E8A838">
              <a:alpha val="25000"/>
            </a:srgbClr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92240" y="261518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→ &lt;28%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374136"/>
            <a:ext cx="502920" cy="502920"/>
          </a:xfrm>
          <a:prstGeom prst="ellipse">
            <a:avLst/>
          </a:prstGeom>
          <a:solidFill>
            <a:srgbClr val="C48B9F"/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5760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" y="3310128"/>
            <a:ext cx="777240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43000" y="3364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Clinique/Jo Malone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6484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groups to diagnose. High GP margins suggest channel/cost issue, not product.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3419856"/>
            <a:ext cx="2148840" cy="402336"/>
          </a:xfrm>
          <a:prstGeom prst="rect">
            <a:avLst/>
          </a:prstGeom>
          <a:solidFill>
            <a:srgbClr val="C48B9F">
              <a:alpha val="25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92240" y="341985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from negative → 0%+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178808"/>
            <a:ext cx="502920" cy="502920"/>
          </a:xfrm>
          <a:prstGeom prst="ellipse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65760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05840" y="4114800"/>
            <a:ext cx="777240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48B9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143000" y="4169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 Quality Score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44531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EBIT÷GS, GP÷AdSpend weekly. Don't just track top-line growth.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92240" y="4224528"/>
            <a:ext cx="2148840" cy="402336"/>
          </a:xfrm>
          <a:prstGeom prst="rect">
            <a:avLst/>
          </a:prstGeom>
          <a:solidFill>
            <a:srgbClr val="1A7F5A">
              <a:alpha val="25000"/>
            </a:srgbClr>
          </a:solidFill>
          <a:ln w="12700">
            <a:solidFill>
              <a:srgbClr val="1A7F5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92240" y="422452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 → &gt;12%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48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Portfolio KPI Dashboard  ·  Data Analyst Review  ·  Source: Internal P&amp;L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Beauty Portfolio — DA Insights</dc:title>
  <dc:subject>PptxGenJS Presentation</dc:subject>
  <dc:creator>PptxGenJS</dc:creator>
  <cp:lastModifiedBy>PptxGenJS</cp:lastModifiedBy>
  <cp:revision>1</cp:revision>
  <dcterms:created xsi:type="dcterms:W3CDTF">2026-05-13T10:16:38Z</dcterms:created>
  <dcterms:modified xsi:type="dcterms:W3CDTF">2026-05-13T10:16:38Z</dcterms:modified>
</cp:coreProperties>
</file>